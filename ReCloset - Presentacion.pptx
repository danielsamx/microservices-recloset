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828800"/>
            <a:ext cx="6400800" cy="640080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229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ReCloset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5EEAD4"/>
                </a:solidFill>
                <a:latin typeface="Calibri"/>
              </a:rPr>
              <a:t>MARKETPLACE DE MODA CIRCULAR  ·  PROYECTO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Re</a:t>
            </a:r>
            <a:r>
              <a:rPr sz="6600" b="1" i="0">
                <a:solidFill>
                  <a:srgbClr val="5EEAD4"/>
                </a:solidFill>
                <a:latin typeface="Calibri"/>
              </a:rPr>
              <a:t>Closet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E9E3"/>
                </a:solidFill>
                <a:latin typeface="Calibri"/>
              </a:rPr>
              <a:t>Arquitectura distribuida basada en microservicios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92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EEAD4"/>
                </a:solidFill>
                <a:latin typeface="Calibri"/>
              </a:rPr>
              <a:t>EQUIPO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257800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983" y="539496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5394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5257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Anderson Cango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257800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81144" y="539496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5394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7" y="5257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Dylan Granizo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5257800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47304" y="539496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5394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5257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Sebastián Sanchez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C2BB"/>
                </a:solidFill>
                <a:latin typeface="Calibri"/>
              </a:rPr>
              <a:t>Vue 3  ·  Laravel 11  ·  PostgreSQL  ·  Laravel Reverb  ·  Docker  ·  Kubernetes  · 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01  ·  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El problema y la 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El problema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441448"/>
            <a:ext cx="310896" cy="310896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11D4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Ropa en desuso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Prendas en buen estado que terminan olvidadas o desechadas.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520440"/>
            <a:ext cx="310896" cy="310896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11D48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5643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Sin canal directo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Falta un espacio simple para publicar y descubrir prendas entre personas.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599431"/>
            <a:ext cx="310896" cy="310896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9943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11D48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3542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Comunicación lenta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El interesado y el vendedor no tienen una vía inmediata de contacto.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600200"/>
            <a:ext cx="5897880" cy="42062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87451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5E59"/>
                </a:solidFill>
                <a:latin typeface="Calibri"/>
              </a:rPr>
              <a:t>ReCloset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 — marketplace de prendas entre usuarios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28600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334155"/>
                </a:solidFill>
                <a:latin typeface="Calibri"/>
              </a:rPr>
              <a:t>Publica, explora y conversa en tiempo real. Sin pagos dentro de la app: el trato se cierra por chat.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246120"/>
            <a:ext cx="93268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3364991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336499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703320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Usuario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58000" y="3598163"/>
            <a:ext cx="182880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22592" y="3246120"/>
            <a:ext cx="93268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33488" y="3364991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336499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703320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Publica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36992" y="3598163"/>
            <a:ext cx="182880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3246120"/>
            <a:ext cx="93268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3364991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36499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3" y="3703320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Explora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15984" y="3598163"/>
            <a:ext cx="182880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0576" y="3246120"/>
            <a:ext cx="93268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1472" y="3364991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336499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5" y="3703320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Contacta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0094976" y="3598163"/>
            <a:ext cx="182880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59567" y="3246120"/>
            <a:ext cx="932688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70463" y="3364991"/>
            <a:ext cx="310896" cy="310896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70463" y="336499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7" y="3703320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Vendida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3434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15E59"/>
                </a:solidFill>
                <a:latin typeface="Calibri"/>
              </a:rPr>
              <a:t>Usuarios: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cualquier persona que quiera dar una segunda vida a su ropa o encontrar prendas de segunda mano.</a:t>
            </a:r>
          </a:p>
          <a:p>
            <a:pPr algn="l"/>
            <a:r>
              <a:rPr sz="1250" b="1" i="0">
                <a:solidFill>
                  <a:srgbClr val="115E59"/>
                </a:solidFill>
                <a:latin typeface="Calibri"/>
              </a:rPr>
              <a:t>Estados de una prenda: 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5257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248656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  <a:latin typeface="Calibri"/>
              </a:rPr>
              <a:t>Disponible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69480" y="52578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248656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  <a:latin typeface="Calibri"/>
              </a:rPr>
              <a:t>Reservada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5257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5248656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Vendida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02  · 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Arquitectura anterior (monolítica)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943600" cy="429768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64748B"/>
                </a:solidFill>
                <a:latin typeface="Calibri"/>
              </a:rPr>
              <a:t>Modelo previo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331720"/>
            <a:ext cx="3200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3200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9" name="Down Arrow 8"/>
          <p:cNvSpPr/>
          <p:nvPr/>
        </p:nvSpPr>
        <p:spPr>
          <a:xfrm>
            <a:off x="3429000" y="3127248"/>
            <a:ext cx="365760" cy="4572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370332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Backend monolítico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062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Auth · Prendas · Chat · Archivos en un solo servicio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429000" y="4773168"/>
            <a:ext cx="365760" cy="45720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2788920" y="5212080"/>
            <a:ext cx="1645920" cy="658368"/>
          </a:xfrm>
          <a:prstGeom prst="ca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5266944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Base de datos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Limitaciones que motivaron el cambio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2304288"/>
            <a:ext cx="292608" cy="292608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30428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11D48"/>
                </a:solidFill>
                <a:latin typeface="Calibri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24028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Alto acoplamiento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Un cambio en un módulo obliga a re-desplegar todo el sistema.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3236976"/>
            <a:ext cx="292608" cy="292608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2369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11D48"/>
                </a:solidFill>
                <a:latin typeface="Calibri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172968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Escalado en bloque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No se puede escalar solo el chat o el catálogo; se escala todo.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0" y="4169663"/>
            <a:ext cx="292608" cy="292608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16966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11D48"/>
                </a:solidFill>
                <a:latin typeface="Calibri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10565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Base de datos compartida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Los módulos dependen del mismo esquema; un fallo afecta a todos.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5102352"/>
            <a:ext cx="292608" cy="292608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510235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11D48"/>
                </a:solidFill>
                <a:latin typeface="Calibri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038344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Fragilidad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Un error en un módulo puede tumbar la aplicación completa.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Nota: diagrama representativo del modelo previo. Sustituir por el diagrama original del equipo si difiere.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5EEAD4"/>
                </a:solidFill>
                <a:latin typeface="Calibri"/>
              </a:rPr>
              <a:t>03  · 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Nueva arquitectura de microservicios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 — Vue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EAD4"/>
                </a:solidFill>
                <a:latin typeface="Calibri"/>
              </a:rPr>
              <a:t>SPA · Pinia · Echo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783080"/>
            <a:ext cx="502920" cy="29260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41732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8132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API Gateway  (nginx)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0195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D1F3EE"/>
                </a:solidFill>
                <a:latin typeface="Calibri"/>
              </a:rPr>
              <a:t>Punto de entrada único · enrutado por ruta · proxy WebSocket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37360" y="2395728"/>
            <a:ext cx="292608" cy="310896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59" y="2926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889504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Auth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40156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Usuarios, login,
tokens Sanctum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755648" y="4023360"/>
            <a:ext cx="274320" cy="2743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 18"/>
          <p:cNvSpPr/>
          <p:nvPr/>
        </p:nvSpPr>
        <p:spPr>
          <a:xfrm>
            <a:off x="1106424" y="4343400"/>
            <a:ext cx="1554480" cy="566928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39826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443984" y="2395728"/>
            <a:ext cx="292608" cy="310896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46704" y="2743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9584" y="2926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2889504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Item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40156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Catálogo, estados,
filtros, tallas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462272" y="4023360"/>
            <a:ext cx="274320" cy="2743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3813048" y="4343400"/>
            <a:ext cx="1554480" cy="566928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439826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150608" y="2395728"/>
            <a:ext cx="292608" cy="310896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53328" y="2743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2926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2889504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Chat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340156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Conversaciones,
mensajes, notif.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168896" y="4023360"/>
            <a:ext cx="274320" cy="2743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n 36"/>
          <p:cNvSpPr/>
          <p:nvPr/>
        </p:nvSpPr>
        <p:spPr>
          <a:xfrm>
            <a:off x="6519672" y="4343400"/>
            <a:ext cx="1554480" cy="566928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439826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9857231" y="2395728"/>
            <a:ext cx="292608" cy="310896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59951" y="2743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42831" y="2926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1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59" y="2889504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Media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19" y="340156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Blob store propio
(volumen Docker)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9875519" y="4023360"/>
            <a:ext cx="274320" cy="2743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2A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n 45"/>
          <p:cNvSpPr/>
          <p:nvPr/>
        </p:nvSpPr>
        <p:spPr>
          <a:xfrm>
            <a:off x="9226295" y="4343400"/>
            <a:ext cx="1554480" cy="566928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6295" y="439826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58704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EEAD4"/>
                </a:solidFill>
                <a:latin typeface="Calibri"/>
              </a:rPr>
              <a:t>Media → volumen persistente Docker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806440"/>
            <a:ext cx="3931920" cy="56692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Reverb </a:t>
            </a:r>
            <a:r>
              <a:rPr sz="1050" b="0" i="0">
                <a:solidFill>
                  <a:srgbClr val="B8DAD4"/>
                </a:solidFill>
                <a:latin typeface="Calibri"/>
              </a:rPr>
              <a:t>(WebSocket) — tiempo real Chat/Notif.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09160" y="5806440"/>
            <a:ext cx="4023360" cy="56692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580644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Prometheus </a:t>
            </a:r>
            <a:r>
              <a:rPr sz="1050" b="0" i="0">
                <a:solidFill>
                  <a:srgbClr val="B8DAD4"/>
                </a:solidFill>
                <a:latin typeface="Calibri"/>
              </a:rPr>
              <a:t>— observabilidad (scrape /metrics)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9A94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9A9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04  ·  REFACTORING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Database per Microservice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11D48"/>
                </a:solidFill>
                <a:latin typeface="Calibri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874519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Base de datos compartida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Auth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154680"/>
            <a:ext cx="274320" cy="5029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2468880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46888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Prendas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63240" y="3154680"/>
            <a:ext cx="274320" cy="5029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2468880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46888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Chat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663440" y="3154680"/>
            <a:ext cx="274320" cy="50292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 17"/>
          <p:cNvSpPr/>
          <p:nvPr/>
        </p:nvSpPr>
        <p:spPr>
          <a:xfrm>
            <a:off x="2148840" y="3840480"/>
            <a:ext cx="2194560" cy="777240"/>
          </a:xfrm>
          <a:prstGeom prst="ca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895344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Una sola 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Acoplamiento entre módulos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Un cambio de esquema impacta a todos</a:t>
            </a:r>
          </a:p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No se puede escalar por servicio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4592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874519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6537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  <a:latin typeface="Calibri"/>
              </a:rPr>
              <a:t>AHORA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1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Una base por servicio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46888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2688336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6883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59689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88950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5E59"/>
                </a:solidFill>
                <a:latin typeface="Calibri"/>
              </a:rPr>
              <a:t>recloset_auth</a:t>
            </a:r>
          </a:p>
        </p:txBody>
      </p:sp>
      <p:sp>
        <p:nvSpPr>
          <p:cNvPr id="30" name="Can 29"/>
          <p:cNvSpPr/>
          <p:nvPr/>
        </p:nvSpPr>
        <p:spPr>
          <a:xfrm>
            <a:off x="8430768" y="2724912"/>
            <a:ext cx="310896" cy="36576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246888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2688336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6883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59689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Item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88950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5E59"/>
                </a:solidFill>
                <a:latin typeface="Calibri"/>
              </a:rPr>
              <a:t>recloset_items</a:t>
            </a:r>
          </a:p>
        </p:txBody>
      </p:sp>
      <p:sp>
        <p:nvSpPr>
          <p:cNvPr id="36" name="Can 35"/>
          <p:cNvSpPr/>
          <p:nvPr/>
        </p:nvSpPr>
        <p:spPr>
          <a:xfrm>
            <a:off x="10945367" y="2724912"/>
            <a:ext cx="310896" cy="36576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0" y="352044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0840" y="3739896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373989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364845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394106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5E59"/>
                </a:solidFill>
                <a:latin typeface="Calibri"/>
              </a:rPr>
              <a:t>recloset_chat</a:t>
            </a:r>
          </a:p>
        </p:txBody>
      </p:sp>
      <p:sp>
        <p:nvSpPr>
          <p:cNvPr id="42" name="Can 41"/>
          <p:cNvSpPr/>
          <p:nvPr/>
        </p:nvSpPr>
        <p:spPr>
          <a:xfrm>
            <a:off x="8430768" y="3776472"/>
            <a:ext cx="310896" cy="36576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98280" y="352044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3739896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73989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364845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394106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5E59"/>
                </a:solidFill>
                <a:latin typeface="Calibri"/>
              </a:rPr>
              <a:t>recloset_media</a:t>
            </a:r>
          </a:p>
        </p:txBody>
      </p:sp>
      <p:sp>
        <p:nvSpPr>
          <p:cNvPr id="48" name="Can 47"/>
          <p:cNvSpPr/>
          <p:nvPr/>
        </p:nvSpPr>
        <p:spPr>
          <a:xfrm>
            <a:off x="10945367" y="3776472"/>
            <a:ext cx="310896" cy="36576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709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Independencia y bajo acoplamiento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Escalado independiente por servicio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Comunicación solo por API / eventos (nunca a la BD ajena)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05  ·  PATRONES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Patrones implementados en el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8444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8444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3580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Ocultar la topología interna y unificar el acceso.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9476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41648"/>
            <a:ext cx="3081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nginx enruta /api/auth, /api/items, /api/chat, /api/media y hace proxy del WebSocket de Reverb.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12064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Servicios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5413248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404104"/>
            <a:ext cx="8001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5940" y="5413248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5940" y="5404104"/>
            <a:ext cx="16230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Todos los servicios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737360"/>
            <a:ext cx="358444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60" y="173736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194560"/>
            <a:ext cx="358444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883664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Database per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78892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Problema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03580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Desacoplar datos y permitir escalar por servicio.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79476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Aplicación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041648"/>
            <a:ext cx="3081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Cada microservicio administra su propia base PostgreSQL; sin acceso directo entre esquemas.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512064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Servicios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36592" y="5413248"/>
            <a:ext cx="59435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5404104"/>
            <a:ext cx="594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Auth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5413248"/>
            <a:ext cx="59435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5404104"/>
            <a:ext cx="594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Item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5413248"/>
            <a:ext cx="59435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5404104"/>
            <a:ext cx="594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Chat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8855" y="5413248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5" y="5404104"/>
            <a:ext cx="6629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Media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1737360"/>
            <a:ext cx="358444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1040" y="173736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2194560"/>
            <a:ext cx="358444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7072" y="1883664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Circuit Breaker + Retry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278892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Problema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303580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Resiliencia ante fallos de dependencias entre servicios.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3794760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Aplicación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4041648"/>
            <a:ext cx="3081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AuthClient/MediaClient/ItemClient reintentan con backoff y abren el circuito tras fallos repetidos.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072" y="512064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4748B"/>
                </a:solidFill>
                <a:latin typeface="Calibri"/>
              </a:rPr>
              <a:t>Servicios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77072" y="5413248"/>
            <a:ext cx="93725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5404104"/>
            <a:ext cx="9372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Item→Auth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24059" y="5413248"/>
            <a:ext cx="937259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24059" y="5404104"/>
            <a:ext cx="9372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Chat→Item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71047" y="54132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71047" y="540410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5E59"/>
                </a:solidFill>
                <a:latin typeface="Calibri"/>
              </a:rPr>
              <a:t>Item→Media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5EEAD4"/>
                </a:solidFill>
                <a:latin typeface="Calibri"/>
              </a:rPr>
              <a:t>06  · 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Capas de seguridad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0136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0784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Identidad y autenticación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82496"/>
            <a:ext cx="6675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7DED9"/>
                </a:solidFill>
                <a:latin typeface="Calibri"/>
              </a:rPr>
              <a:t>Registro/login con Laravel Sanctum. Tokens Bearer. Contraseñas con hashing bcrypt; política de fortaleza (8+, mayús/minús, número).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32888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73405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3347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Autorización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15184"/>
            <a:ext cx="6675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7DED9"/>
                </a:solidFill>
                <a:latin typeface="Calibri"/>
              </a:rPr>
              <a:t>Introspección del token contra Auth Service. Autorización por propiedad: solo el dueño edita, cambia estado o elimina su prenda.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65576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666744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667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6616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Protección de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47872"/>
            <a:ext cx="6675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7DED9"/>
                </a:solidFill>
                <a:latin typeface="Calibri"/>
              </a:rPr>
              <a:t>Rutas privadas tras middleware. Secreto compartido (X-Internal-Token) para llamadas servicio-a-servicio.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98264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59943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9884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Validación de entradas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480560"/>
            <a:ext cx="6675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7DED9"/>
                </a:solidFill>
                <a:latin typeface="Calibri"/>
              </a:rPr>
              <a:t>Validación en frontend y backend. En archivos: MIME real, extensión, tamaño y nombre saneado.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30952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5532120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3212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3153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Secretos y CORS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413248"/>
            <a:ext cx="6675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7DED9"/>
                </a:solidFill>
                <a:latin typeface="Calibri"/>
              </a:rPr>
              <a:t>Credenciales por variables de entorno / Secrets de Kubernetes. CORS configurado. Errores sin fugas de información.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FB0A9"/>
                </a:solidFill>
                <a:latin typeface="Calibri"/>
              </a:rPr>
              <a:t>Trabajo futuro: HTTPS/TLS extremo a extremo y un sistema de roles/permisos (hoy la autorización es por propiedad).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07  ·  FRONTEND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Frontend conectado a los microservicios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400800" cy="457200"/>
          </a:xfrm>
          <a:prstGeom prst="roundRect">
            <a:avLst>
              <a:gd name="adj" fmla="val 4000"/>
            </a:avLst>
          </a:prstGeom>
          <a:solidFill>
            <a:srgbClr val="E9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792224"/>
            <a:ext cx="164592" cy="16459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1124712" y="1792224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792224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380744" y="1792224"/>
            <a:ext cx="164592" cy="16459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4" y="1792224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700784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localhost:5173  ·  ReCloset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402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ReCloset   Catálogo   Mensajes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83464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283464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848" y="3749039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69848" y="393192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04872" y="283464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04872" y="283464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14600" y="3749039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14600" y="393192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9624" y="283464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9624" y="283464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59352" y="3749039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59352" y="393192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94376" y="283464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94376" y="283464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04104" y="3749039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04104" y="393192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429768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" y="429768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9848" y="5212080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9848" y="539496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04872" y="429768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404872" y="429768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514600" y="5212080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14600" y="539496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49624" y="429768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49624" y="429768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959352" y="5212080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959352" y="539496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294376" y="4297680"/>
            <a:ext cx="1280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94376" y="4297680"/>
            <a:ext cx="1280160" cy="841248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04104" y="5212080"/>
            <a:ext cx="822960" cy="128016"/>
          </a:xfrm>
          <a:prstGeom prst="roundRect">
            <a:avLst>
              <a:gd name="adj" fmla="val 4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04104" y="5394960"/>
            <a:ext cx="502920" cy="118872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6235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Marco ilustrativo — reemplazar por captura real del catálogo.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1737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Pantallas principales</a:t>
            </a:r>
          </a:p>
        </p:txBody>
      </p:sp>
      <p:sp>
        <p:nvSpPr>
          <p:cNvPr id="50" name="Oval 49"/>
          <p:cNvSpPr/>
          <p:nvPr/>
        </p:nvSpPr>
        <p:spPr>
          <a:xfrm>
            <a:off x="7360920" y="2167128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216712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11226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Inicio</a:t>
            </a:r>
          </a:p>
        </p:txBody>
      </p:sp>
      <p:sp>
        <p:nvSpPr>
          <p:cNvPr id="53" name="Oval 52"/>
          <p:cNvSpPr/>
          <p:nvPr/>
        </p:nvSpPr>
        <p:spPr>
          <a:xfrm>
            <a:off x="9509760" y="2167128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216712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211226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Catálogo + filtros</a:t>
            </a:r>
          </a:p>
        </p:txBody>
      </p:sp>
      <p:sp>
        <p:nvSpPr>
          <p:cNvPr id="56" name="Oval 55"/>
          <p:cNvSpPr/>
          <p:nvPr/>
        </p:nvSpPr>
        <p:spPr>
          <a:xfrm>
            <a:off x="7360920" y="2642616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0920" y="264261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58775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Detalle de prenda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0" y="2642616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264261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258775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Mis publicaciones</a:t>
            </a:r>
          </a:p>
        </p:txBody>
      </p:sp>
      <p:sp>
        <p:nvSpPr>
          <p:cNvPr id="62" name="Oval 61"/>
          <p:cNvSpPr/>
          <p:nvPr/>
        </p:nvSpPr>
        <p:spPr>
          <a:xfrm>
            <a:off x="7360920" y="3118104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60920" y="31181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3063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Crear / Editar</a:t>
            </a:r>
          </a:p>
        </p:txBody>
      </p:sp>
      <p:sp>
        <p:nvSpPr>
          <p:cNvPr id="65" name="Oval 64"/>
          <p:cNvSpPr/>
          <p:nvPr/>
        </p:nvSpPr>
        <p:spPr>
          <a:xfrm>
            <a:off x="9509760" y="3118104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31181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3063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Chat en tiempo real</a:t>
            </a:r>
          </a:p>
        </p:txBody>
      </p:sp>
      <p:sp>
        <p:nvSpPr>
          <p:cNvPr id="68" name="Oval 67"/>
          <p:cNvSpPr/>
          <p:nvPr/>
        </p:nvSpPr>
        <p:spPr>
          <a:xfrm>
            <a:off x="7360920" y="3593592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359359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3538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Notificaciones</a:t>
            </a:r>
          </a:p>
        </p:txBody>
      </p:sp>
      <p:sp>
        <p:nvSpPr>
          <p:cNvPr id="71" name="Oval 70"/>
          <p:cNvSpPr/>
          <p:nvPr/>
        </p:nvSpPr>
        <p:spPr>
          <a:xfrm>
            <a:off x="9509760" y="3593592"/>
            <a:ext cx="182880" cy="1828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09760" y="359359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3538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Perfil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42519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Contenerización del frontend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60920" y="4663440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464515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1.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Código Vue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60920" y="4992624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4974336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2.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Dockerfile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60920" y="5321807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43800" y="530352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3.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Imagen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60920" y="5650992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3800" y="56327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4.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Contenedor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60920" y="5980175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43800" y="5961888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5.  </a:t>
            </a:r>
            <a:r>
              <a:rPr sz="1050" b="0" i="0">
                <a:solidFill>
                  <a:srgbClr val="334155"/>
                </a:solidFill>
                <a:latin typeface="Calibri"/>
              </a:rPr>
              <a:t>App :5173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60920" y="6355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Ejecución local con Docker Compose (Vite dev server).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08  ·  BACKEND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Microservicios y endpoints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Responsabilidad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4592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Endpoints principales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4592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682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682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0280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Auth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Registro, login/logout, verificación de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24028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5E59"/>
                </a:solidFill>
                <a:latin typeface="Calibri"/>
              </a:rPr>
              <a:t>/api/auth/register · /login · /verify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40280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recloset_auth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826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54680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Item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5468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Catálogo, CRUD, estados, filtros, tallas múltiples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15468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5E59"/>
                </a:solidFill>
                <a:latin typeface="Calibri"/>
              </a:rPr>
              <a:t>/api/catalog · /items · /wardrobe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154680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recloset_items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1970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970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69079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Chat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069079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Conversaciones, mensajes y notificaciones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69079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5E59"/>
                </a:solidFill>
                <a:latin typeface="Calibri"/>
              </a:rPr>
              <a:t>/api/conversations · /messages · /notifications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69079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recloset_chat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9204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1114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114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983479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Media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983479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Almacenamiento de archivos (blob propio)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983479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5E59"/>
                </a:solidFill>
                <a:latin typeface="Calibri"/>
              </a:rPr>
              <a:t>/api/media (subir/obtener/eliminar)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983479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recloset_media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94360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Código Laravel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807208" y="6144768"/>
            <a:ext cx="201168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59436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Dockerfile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956048" y="6144768"/>
            <a:ext cx="201168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59436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Imagen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104888" y="6144768"/>
            <a:ext cx="201168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9436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Contenedor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253728" y="6144768"/>
            <a:ext cx="201168" cy="16459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59436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15E59"/>
                </a:solidFill>
                <a:latin typeface="Calibri"/>
              </a:rPr>
              <a:t>Microservicio en :8000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09  ·  OBSERVABILIDAD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Monitoreo con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Qué se monitorea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029200" cy="65836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3172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203704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Disponibilidad  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recloset_up por servicio (1/0)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98648"/>
            <a:ext cx="5029200" cy="65836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081528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0815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53512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Solicitudes  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recloset_http_requests_total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48456"/>
            <a:ext cx="5029200" cy="65836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3831335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70332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Errores  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recloset_http_errors_total (5xx)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98264"/>
            <a:ext cx="5029200" cy="65836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4581144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811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453127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Latencia  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recloset_http_response_ms_avg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48072"/>
            <a:ext cx="5029200" cy="65836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533095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3309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202936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Salud  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endpoint /health con chequeo de BD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69164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1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Flujo de scraping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377440"/>
            <a:ext cx="1600200" cy="73152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377440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Servicios /metrics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81544" y="2615184"/>
            <a:ext cx="182880" cy="25603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0" y="2377440"/>
            <a:ext cx="1600200" cy="73152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377440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564624" y="2615184"/>
            <a:ext cx="182880" cy="256032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84080" y="2377440"/>
            <a:ext cx="1600200" cy="73152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4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377440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Consulta PromQL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DAD4"/>
                </a:solidFill>
                <a:latin typeface="Calibri"/>
              </a:rPr>
              <a:t>UI de Prometheus en :9090 · targets up/down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3886200"/>
            <a:ext cx="5577840" cy="2057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069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Logs estructurados (JSON a stdout)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8056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94A3B8"/>
                </a:solidFill>
                <a:latin typeface="Consolas"/>
              </a:rPr>
              <a:t>{ </a:t>
            </a:r>
            <a:r>
              <a:rPr sz="1050" b="0" i="0">
                <a:solidFill>
                  <a:srgbClr val="5EEAD4"/>
                </a:solidFill>
                <a:latin typeface="Consolas"/>
              </a:rPr>
              <a:t>"service"</a:t>
            </a:r>
            <a:r>
              <a:rPr sz="1050" b="0" i="0">
                <a:solidFill>
                  <a:srgbClr val="CBD5E1"/>
                </a:solidFill>
                <a:latin typeface="Consolas"/>
              </a:rPr>
              <a:t>: "item", 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EEAD4"/>
                </a:solidFill>
                <a:latin typeface="Consolas"/>
              </a:rPr>
              <a:t>  "level"</a:t>
            </a:r>
            <a:r>
              <a:rPr sz="1050" b="0" i="0">
                <a:solidFill>
                  <a:srgbClr val="CBD5E1"/>
                </a:solidFill>
                <a:latin typeface="Consolas"/>
              </a:rPr>
              <a:t>: "info", 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EEAD4"/>
                </a:solidFill>
                <a:latin typeface="Consolas"/>
              </a:rPr>
              <a:t>  "message"</a:t>
            </a:r>
            <a:r>
              <a:rPr sz="1050" b="0" i="0">
                <a:solidFill>
                  <a:srgbClr val="CBD5E1"/>
                </a:solidFill>
                <a:latin typeface="Consolas"/>
              </a:rPr>
              <a:t>: "item.created", </a:t>
            </a:r>
          </a:p>
          <a:p>
            <a:pPr algn="l"/>
            <a:r>
              <a:rPr sz="1050" b="0" i="0">
                <a:solidFill>
                  <a:srgbClr val="5EEAD4"/>
                </a:solidFill>
                <a:latin typeface="Consolas"/>
              </a:rPr>
              <a:t>  "context"</a:t>
            </a:r>
            <a:r>
              <a:rPr sz="1050" b="0" i="0">
                <a:solidFill>
                  <a:srgbClr val="CBD5E1"/>
                </a:solidFill>
                <a:latin typeface="Consolas"/>
              </a:rPr>
              <a:t>: { "item_id": 12 }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6235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FA3B8"/>
                </a:solidFill>
                <a:latin typeface="Calibri"/>
              </a:rPr>
              <a:t>Sin contraseñas ni tokens. Recolectables con docker compose logs.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53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Trabajo futuro: dashboards en Grafana sobre Prometheus.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10  · 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CI/CD — pipeline propuesto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960120"/>
            <a:ext cx="484632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95097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45309"/>
                </a:solidFill>
                <a:latin typeface="Calibri"/>
              </a:rPr>
              <a:t>TRABAJO FUTURO · NO IMPLEMENTADO AÚN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git push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834640"/>
            <a:ext cx="307238" cy="1828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1798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7014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6078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6078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repositorio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56278" y="2834640"/>
            <a:ext cx="307238" cy="1828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3516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48732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8732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7796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GitHub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7796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pipeline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17996" y="2834640"/>
            <a:ext cx="307238" cy="1828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25235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0451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0451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9515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Build +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9515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calidad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79715" y="2834640"/>
            <a:ext cx="307238" cy="1828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6953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72169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2169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1233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Docker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1233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build &amp; push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41433" y="2834640"/>
            <a:ext cx="307238" cy="1828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48672" y="2377440"/>
            <a:ext cx="157276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33887" y="2523744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33887" y="25237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2951" y="2980944"/>
            <a:ext cx="1664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1" y="3246120"/>
            <a:ext cx="16642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K8s / Compose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Base ya lista para automatizar</a:t>
            </a:r>
          </a:p>
        </p:txBody>
      </p:sp>
      <p:sp>
        <p:nvSpPr>
          <p:cNvPr id="44" name="Oval 43"/>
          <p:cNvSpPr/>
          <p:nvPr/>
        </p:nvSpPr>
        <p:spPr>
          <a:xfrm>
            <a:off x="914400" y="4846320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Dockerfiles por servicio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Cada microservicio y el frontend construyen su imagen.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4846320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48463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8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Docker Compose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Levanta todo el stack con un comando.</a:t>
            </a:r>
          </a:p>
        </p:txBody>
      </p:sp>
      <p:sp>
        <p:nvSpPr>
          <p:cNvPr id="50" name="Oval 49"/>
          <p:cNvSpPr/>
          <p:nvPr/>
        </p:nvSpPr>
        <p:spPr>
          <a:xfrm>
            <a:off x="8046720" y="4846320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8463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Manifiestos de Kubernetes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Despliegue declarativo listo para aplicar.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5EEAD4"/>
                </a:solidFill>
                <a:latin typeface="Calibri"/>
              </a:rPr>
              <a:t>11  ·  ORQUESTACIÓN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Kubernetes — clúster de microservicios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932688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23544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  <a:latin typeface="Calibri"/>
              </a:rPr>
              <a:t>IMPLEMENTADO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881360" cy="37947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524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Namespace: recloset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240280"/>
            <a:ext cx="4297680" cy="54864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4028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Service LoadBalancer →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632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83864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19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087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7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30632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3172968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483864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22776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22776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0056" y="30632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0056" y="3172968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3483864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0096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98464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98464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95744" y="30632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5744" y="3172968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3483864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5783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15783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4152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71432" y="30632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71432" y="3172968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Media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3483864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Deployment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1472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3794760"/>
            <a:ext cx="548640" cy="365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37947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15E59"/>
                </a:solidFill>
                <a:latin typeface="Calibri"/>
              </a:rPr>
              <a:t>pod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526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7DED9"/>
                </a:solidFill>
                <a:latin typeface="Calibri"/>
              </a:rPr>
              <a:t>PersistentVolumeClaims → PostgreSQL por servicio + volumen de Media</a:t>
            </a:r>
          </a:p>
        </p:txBody>
      </p:sp>
      <p:sp>
        <p:nvSpPr>
          <p:cNvPr id="47" name="Can 46"/>
          <p:cNvSpPr/>
          <p:nvPr/>
        </p:nvSpPr>
        <p:spPr>
          <a:xfrm>
            <a:off x="1051560" y="4828032"/>
            <a:ext cx="822960" cy="45720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8828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PVC</a:t>
            </a:r>
          </a:p>
        </p:txBody>
      </p:sp>
      <p:sp>
        <p:nvSpPr>
          <p:cNvPr id="49" name="Can 48"/>
          <p:cNvSpPr/>
          <p:nvPr/>
        </p:nvSpPr>
        <p:spPr>
          <a:xfrm>
            <a:off x="3127248" y="4828032"/>
            <a:ext cx="822960" cy="45720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7248" y="48828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PVC</a:t>
            </a:r>
          </a:p>
        </p:txBody>
      </p:sp>
      <p:sp>
        <p:nvSpPr>
          <p:cNvPr id="51" name="Can 50"/>
          <p:cNvSpPr/>
          <p:nvPr/>
        </p:nvSpPr>
        <p:spPr>
          <a:xfrm>
            <a:off x="5202936" y="4828032"/>
            <a:ext cx="822960" cy="45720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02936" y="48828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PVC</a:t>
            </a:r>
          </a:p>
        </p:txBody>
      </p:sp>
      <p:sp>
        <p:nvSpPr>
          <p:cNvPr id="53" name="Can 52"/>
          <p:cNvSpPr/>
          <p:nvPr/>
        </p:nvSpPr>
        <p:spPr>
          <a:xfrm>
            <a:off x="7278624" y="4828032"/>
            <a:ext cx="822960" cy="45720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8624" y="48828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PVC</a:t>
            </a:r>
          </a:p>
        </p:txBody>
      </p:sp>
      <p:sp>
        <p:nvSpPr>
          <p:cNvPr id="55" name="Can 54"/>
          <p:cNvSpPr/>
          <p:nvPr/>
        </p:nvSpPr>
        <p:spPr>
          <a:xfrm>
            <a:off x="9354312" y="4828032"/>
            <a:ext cx="822960" cy="457200"/>
          </a:xfrm>
          <a:prstGeom prst="ca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4312" y="48828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PVC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504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Calibri"/>
              </a:rPr>
              <a:t>Recursos:   </a:t>
            </a:r>
            <a:r>
              <a:rPr sz="1100" b="0" i="0">
                <a:solidFill>
                  <a:srgbClr val="C7DED9"/>
                </a:solidFill>
                <a:latin typeface="Calibri"/>
              </a:rPr>
              <a:t>Deployments · Services · ConfigMaps · Secrets · PV/PVC · Liveness/Readiness Probes · HPA (Item, Chat)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8704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8FBEB7"/>
                </a:solidFill>
                <a:latin typeface="Calibri"/>
              </a:rPr>
              <a:t>Cada microservicio escala de forma independiente; Docker Compose se mantiene para desarrollo local.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9A94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9A9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12  ·  VALIDACIÓN Y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Validación en frontend y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Reglas aplicadas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67128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67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Campos obligatorios marcados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8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243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Formatos válidos (correo, números)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81528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449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Longitud mínima y máxima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38728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38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021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Precio y cantidades numéricas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95927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9593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Al menos una talla y una imagen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53127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5312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4165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Fortaleza de contraseña en vivo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910327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032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8737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Mensajes de error claros, en español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367527"/>
            <a:ext cx="274320" cy="27432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6752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3309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Feedback de éxito con toasts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69164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Publicar prenda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331720"/>
            <a:ext cx="4937760" cy="50292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1270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3172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Revisa los datos del formulario.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017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4155"/>
                </a:solidFill>
                <a:latin typeface="Calibri"/>
              </a:rPr>
              <a:t>Nombre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273552"/>
            <a:ext cx="49377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273552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Chaqueta de mezclilla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4155"/>
                </a:solidFill>
                <a:latin typeface="Calibri"/>
              </a:rPr>
              <a:t>Precio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096512"/>
            <a:ext cx="49377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096512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5902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11D48"/>
                </a:solidFill>
                <a:latin typeface="Calibri"/>
              </a:rPr>
              <a:t>El precio es obligatorio.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937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4155"/>
                </a:solidFill>
                <a:latin typeface="Calibri"/>
              </a:rPr>
              <a:t>Tallas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XS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193792"/>
            <a:ext cx="457200" cy="38404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76288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6288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76288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76288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3216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43216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43216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43216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10144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10144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10144" y="5193792"/>
            <a:ext cx="457200" cy="38404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77072" y="519379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51846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XL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77072" y="5193792"/>
            <a:ext cx="457200" cy="38404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78240" y="1874519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87968" y="1975104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87968" y="19751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1874519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34155"/>
                </a:solidFill>
                <a:latin typeface="Calibri"/>
              </a:rPr>
              <a:t>Guardado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Marco ilustrativo — reemplazar por captura real de las validaciones.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0F766E"/>
                </a:solidFill>
                <a:latin typeface="Calibri"/>
              </a:rPr>
              <a:t>13  ·  NAVEGACIÓN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Flujo entre pantallas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7004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Login / Registro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01168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86200" y="21945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194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7004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Inicio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01168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21945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7004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Catálogo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01168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2680" y="21945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194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67004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Detalle de prenda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9319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2680" y="41148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4114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459028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9319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41148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114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59028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Notificaciones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39319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6200" y="41148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4114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590288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Perfil / Mis publicaciones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990088" y="2551176"/>
            <a:ext cx="65836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6053327" y="2551176"/>
            <a:ext cx="65836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9116567" y="2551176"/>
            <a:ext cx="65836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10895076" y="3291840"/>
            <a:ext cx="201168" cy="548640"/>
          </a:xfrm>
          <a:prstGeom prst="down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9171432" y="4471416"/>
            <a:ext cx="658368" cy="201168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ft Arrow 37"/>
          <p:cNvSpPr/>
          <p:nvPr/>
        </p:nvSpPr>
        <p:spPr>
          <a:xfrm>
            <a:off x="6108192" y="4471416"/>
            <a:ext cx="658368" cy="201168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62356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Navegación consistente: barra superior en escritorio y barra inferior en móvil. El estado activo siempre visible; “Volver” y accesos directos en cada pantalla.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ReCloset  ·  Arquitectura de microservicios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20">
                <a:solidFill>
                  <a:srgbClr val="5EEAD4"/>
                </a:solidFill>
                <a:latin typeface="Calibri"/>
              </a:rPr>
              <a:t>14  · 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Conclusiones y aprendizajes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193852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836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 monolito a microservicios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4942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Responsabilidades separadas, despliegue y escalado independientes, menor acoplamiento.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193852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9385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8836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Database per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224942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Cada servicio dueño de sus datos; comunicación solo por API o eventos.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35584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55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30098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Contenedores + Kubernetes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66674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Entorno reproducible con Docker; orquestación, probes y escalado con Kubernetes.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3368" y="335584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355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30098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Observabilidad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366674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Prometheus y logs estructurados para ver estado, errores y latencia de cada servicio.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7" y="477316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7731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71830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Tiempo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08406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Chat y notificaciones con Laravel Reverb sin recargar la página.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5720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12700">
            <a:solidFill>
              <a:srgbClr val="225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73368" y="477316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7731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471830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Seguridad por capas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508406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ED9"/>
                </a:solidFill>
                <a:latin typeface="Calibri"/>
              </a:rPr>
              <a:t>Sanctum, autorización por propiedad, validación doble y secretos por entorno.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Calibri"/>
              </a:rPr>
              <a:t>Próximos pasos: </a:t>
            </a:r>
            <a:r>
              <a:rPr sz="1100" b="0" i="0">
                <a:solidFill>
                  <a:srgbClr val="C7DED9"/>
                </a:solidFill>
                <a:latin typeface="Calibri"/>
              </a:rPr>
              <a:t>CI/CD con GitHub Actions, dashboards en Grafana, HTTPS/TLS y sistema de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